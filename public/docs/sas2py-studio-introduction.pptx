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999" cy="6858000" type="wide"/>
  <p:notes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502920"/>
            <a:ext cx="11155680" cy="219456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0">
                <a:solidFill>
                  <a:srgbClr val="263238"/>
                </a:solidFill>
              </a:rPr>
              <a:t/>
            </a:r>
            <a:endParaRPr lang="en-US" sz="2400"/>
          </a:p>
        </p:txBody>
      </p:sp>
      <p:sp>
        <p:nvSpPr>
          <p:cNvPr id="3" name="TextBox 3"/>
          <p:cNvSpPr txBox="1"/>
          <p:nvPr/>
        </p:nvSpPr>
        <p:spPr>
          <a:xfrm>
            <a:off x="685800" y="1325880"/>
            <a:ext cx="107899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4200" b="1">
                <a:solidFill>
                  <a:srgbClr val="17324D"/>
                </a:solidFill>
              </a:rPr>
              <a:t>SAS2Py Studio</a:t>
            </a:r>
            <a:endParaRPr lang="en-US" sz="4200"/>
          </a:p>
        </p:txBody>
      </p:sp>
      <p:sp>
        <p:nvSpPr>
          <p:cNvPr id="4" name="TextBox 4"/>
          <p:cNvSpPr txBox="1"/>
          <p:nvPr/>
        </p:nvSpPr>
        <p:spPr>
          <a:xfrm>
            <a:off x="713232" y="2606040"/>
            <a:ext cx="96926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100" b="0">
                <a:solidFill>
                  <a:srgbClr val="41515C"/>
                </a:solidFill>
              </a:rPr>
              <a:t>How the application converts SAS programs to Python or R, supports review, and runs generated code.</a:t>
            </a:r>
            <a:endParaRPr lang="en-US" sz="2100"/>
          </a:p>
        </p:txBody>
      </p:sp>
      <p:sp>
        <p:nvSpPr>
          <p:cNvPr id="5" name="TextBox 5"/>
          <p:cNvSpPr txBox="1"/>
          <p:nvPr/>
        </p:nvSpPr>
        <p:spPr>
          <a:xfrm>
            <a:off x="713232" y="59436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0">
                <a:solidFill>
                  <a:srgbClr val="6C7A86"/>
                </a:solidFill>
              </a:rPr>
              <a:t>Generated July 01, 2026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928" y="384048"/>
            <a:ext cx="109728" cy="608076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0">
                <a:solidFill>
                  <a:srgbClr val="263238"/>
                </a:solidFill>
              </a:rPr>
              <a:t/>
            </a:r>
            <a:endParaRPr lang="en-US" sz="2400"/>
          </a:p>
        </p:txBody>
      </p:sp>
      <p:sp>
        <p:nvSpPr>
          <p:cNvPr id="3" name="TextBox 3"/>
          <p:cNvSpPr txBox="1"/>
          <p:nvPr/>
        </p:nvSpPr>
        <p:spPr>
          <a:xfrm>
            <a:off x="82296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17324D"/>
                </a:solidFill>
              </a:rPr>
              <a:t>Problem and Motivation</a:t>
            </a:r>
            <a:endParaRPr lang="en-US" sz="3000"/>
          </a:p>
        </p:txBody>
      </p:sp>
      <p:sp>
        <p:nvSpPr>
          <p:cNvPr id="4" name="Bullets 4"/>
          <p:cNvSpPr txBox="1"/>
          <p:nvPr/>
        </p:nvSpPr>
        <p:spPr>
          <a:xfrm>
            <a:off x="914400" y="1417320"/>
            <a:ext cx="10332720" cy="4892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Many SAS programs encode important analysis logic, but teams increasingly need Python or R versions for modern workflows.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Manual translation is slow, hard to review, and easy to break when code includes survey methods, formats, file paths, or confidence intervals.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SAS2Py Studio provides a controlled workspace for translation, validation planning, refinement, execution, and review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928" y="384048"/>
            <a:ext cx="109728" cy="608076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0">
                <a:solidFill>
                  <a:srgbClr val="263238"/>
                </a:solidFill>
              </a:rPr>
              <a:t/>
            </a:r>
            <a:endParaRPr lang="en-US" sz="2400"/>
          </a:p>
        </p:txBody>
      </p:sp>
      <p:sp>
        <p:nvSpPr>
          <p:cNvPr id="3" name="TextBox 3"/>
          <p:cNvSpPr txBox="1"/>
          <p:nvPr/>
        </p:nvSpPr>
        <p:spPr>
          <a:xfrm>
            <a:off x="82296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17324D"/>
                </a:solidFill>
              </a:rPr>
              <a:t>What the App Does</a:t>
            </a:r>
            <a:endParaRPr lang="en-US" sz="3000"/>
          </a:p>
        </p:txBody>
      </p:sp>
      <p:sp>
        <p:nvSpPr>
          <p:cNvPr id="4" name="Bullets 4"/>
          <p:cNvSpPr txBox="1"/>
          <p:nvPr/>
        </p:nvSpPr>
        <p:spPr>
          <a:xfrm>
            <a:off x="914400" y="1417320"/>
            <a:ext cx="10332720" cy="4892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Accepts pasted or uploaded SAS code and converts it to Python or R.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Uses tailored Azure OpenAI prompts to preserve comments, statistical logic, file handling, confidence intervals, and SAS/SUDAAN behavior.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Stores conversions with names, language, user ownership, reviews, enhancement history, and execution results.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Lets users ask follow-up questions about generated code and apply targeted refinements.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96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17324D"/>
                </a:solidFill>
              </a:rPr>
              <a:t>Application Architecture</a:t>
            </a:r>
            <a:endParaRPr lang="en-US" sz="3000"/>
          </a:p>
        </p:txBody>
      </p:sp>
      <p:sp>
        <p:nvSpPr>
          <p:cNvPr id="3" name="TextBox 3"/>
          <p:cNvSpPr txBox="1"/>
          <p:nvPr/>
        </p:nvSpPr>
        <p:spPr>
          <a:xfrm>
            <a:off x="685800" y="132588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CC"/>
            </a:solidFill>
          </a:ln>
        </p:spPr>
        <p:txBody>
          <a:bodyPr wrap="square" anchor="t"/>
          <a:lstStyle/>
          <a:p>
            <a:pPr algn="ctr"/>
            <a:r>
              <a:rPr lang="en-US" sz="1400" b="0">
                <a:solidFill>
                  <a:srgbClr val="263238"/>
                </a:solidFill>
              </a:rPr>
              <a:t>User Interface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Next.js + React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Converter workspace</a:t>
            </a:r>
            <a:endParaRPr lang="en-US" sz="1400"/>
          </a:p>
        </p:txBody>
      </p:sp>
      <p:sp>
        <p:nvSpPr>
          <p:cNvPr id="4" name="TextBox 4"/>
          <p:cNvSpPr txBox="1"/>
          <p:nvPr/>
        </p:nvSpPr>
        <p:spPr>
          <a:xfrm>
            <a:off x="3429000" y="132588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CC"/>
            </a:solidFill>
          </a:ln>
        </p:spPr>
        <p:txBody>
          <a:bodyPr wrap="square" anchor="t"/>
          <a:lstStyle/>
          <a:p>
            <a:pPr algn="ctr"/>
            <a:r>
              <a:rPr lang="en-US" sz="1400" b="0">
                <a:solidFill>
                  <a:srgbClr val="263238"/>
                </a:solidFill>
              </a:rPr>
              <a:t>API Layer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Next.js route handlers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Auth + validation</a:t>
            </a:r>
            <a:endParaRPr lang="en-US" sz="1400"/>
          </a:p>
        </p:txBody>
      </p:sp>
      <p:sp>
        <p:nvSpPr>
          <p:cNvPr id="5" name="TextBox 5"/>
          <p:cNvSpPr txBox="1"/>
          <p:nvPr/>
        </p:nvSpPr>
        <p:spPr>
          <a:xfrm>
            <a:off x="6172200" y="132588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CC"/>
            </a:solidFill>
          </a:ln>
        </p:spPr>
        <p:txBody>
          <a:bodyPr wrap="square" anchor="t"/>
          <a:lstStyle/>
          <a:p>
            <a:pPr algn="ctr"/>
            <a:r>
              <a:rPr lang="en-US" sz="1400" b="0">
                <a:solidFill>
                  <a:srgbClr val="263238"/>
                </a:solidFill>
              </a:rPr>
              <a:t>AI Services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Azure OpenAI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conversion, analysis, chat</a:t>
            </a:r>
            <a:endParaRPr lang="en-US" sz="1400"/>
          </a:p>
        </p:txBody>
      </p:sp>
      <p:sp>
        <p:nvSpPr>
          <p:cNvPr id="6" name="TextBox 6"/>
          <p:cNvSpPr txBox="1"/>
          <p:nvPr/>
        </p:nvSpPr>
        <p:spPr>
          <a:xfrm>
            <a:off x="8915400" y="132588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CC"/>
            </a:solidFill>
          </a:ln>
        </p:spPr>
        <p:txBody>
          <a:bodyPr wrap="square" anchor="t"/>
          <a:lstStyle/>
          <a:p>
            <a:pPr algn="ctr"/>
            <a:r>
              <a:rPr lang="en-US" sz="1400" b="0">
                <a:solidFill>
                  <a:srgbClr val="263238"/>
                </a:solidFill>
              </a:rPr>
              <a:t>Persistence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Databricks SQL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entries, reviews, runs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429000" y="416052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CC"/>
            </a:solidFill>
          </a:ln>
        </p:spPr>
        <p:txBody>
          <a:bodyPr wrap="square" anchor="t"/>
          <a:lstStyle/>
          <a:p>
            <a:pPr algn="ctr"/>
            <a:r>
              <a:rPr lang="en-US" sz="1400" b="0">
                <a:solidFill>
                  <a:srgbClr val="263238"/>
                </a:solidFill>
              </a:rPr>
              <a:t>Execution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Databricks Jobs / Docker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Python + R</a:t>
            </a:r>
            <a:endParaRPr lang="en-US" sz="1400"/>
          </a:p>
        </p:txBody>
      </p:sp>
      <p:sp>
        <p:nvSpPr>
          <p:cNvPr id="8" name="TextBox 8"/>
          <p:cNvSpPr txBox="1"/>
          <p:nvPr/>
        </p:nvSpPr>
        <p:spPr>
          <a:xfrm>
            <a:off x="6172200" y="416052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CC"/>
            </a:solidFill>
          </a:ln>
        </p:spPr>
        <p:txBody>
          <a:bodyPr wrap="square" anchor="t"/>
          <a:lstStyle/>
          <a:p>
            <a:pPr algn="ctr"/>
            <a:r>
              <a:rPr lang="en-US" sz="1400" b="0">
                <a:solidFill>
                  <a:srgbClr val="263238"/>
                </a:solidFill>
              </a:rPr>
              <a:t>File Handoff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Azure Blob Storage</a:t>
            </a:r>
            <a:endParaRPr lang="en-US" sz="1400"/>
          </a:p>
          <a:p>
            <a:pPr algn="ctr"/>
            <a:r>
              <a:rPr lang="en-US" sz="1400" b="0">
                <a:solidFill>
                  <a:srgbClr val="263238"/>
                </a:solidFill>
              </a:rPr>
              <a:t>inputs + artifacts</a:t>
            </a:r>
            <a:endParaRPr lang="en-US" sz="1400"/>
          </a:p>
        </p:txBody>
      </p:sp>
      <p:cxnSp>
        <p:nvCxnSpPr>
          <p:cNvPr id="9" name="Connector 9"/>
          <p:cNvCxnSpPr/>
          <p:nvPr/>
        </p:nvCxnSpPr>
        <p:spPr>
          <a:xfrm>
            <a:off x="2971800" y="1856231"/>
            <a:ext cx="457200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</p:cxnSp>
      <p:cxnSp>
        <p:nvCxnSpPr>
          <p:cNvPr id="10" name="Connector 10"/>
          <p:cNvCxnSpPr/>
          <p:nvPr/>
        </p:nvCxnSpPr>
        <p:spPr>
          <a:xfrm>
            <a:off x="5715000" y="1856231"/>
            <a:ext cx="457200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</p:cxnSp>
      <p:cxnSp>
        <p:nvCxnSpPr>
          <p:cNvPr id="11" name="Connector 11"/>
          <p:cNvCxnSpPr/>
          <p:nvPr/>
        </p:nvCxnSpPr>
        <p:spPr>
          <a:xfrm>
            <a:off x="8458200" y="1856231"/>
            <a:ext cx="457200" cy="0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</p:cxnSp>
      <p:cxnSp>
        <p:nvCxnSpPr>
          <p:cNvPr id="12" name="Connector 12"/>
          <p:cNvCxnSpPr/>
          <p:nvPr/>
        </p:nvCxnSpPr>
        <p:spPr>
          <a:xfrm>
            <a:off x="4572000" y="2377440"/>
            <a:ext cx="0" cy="1783079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</p:cxnSp>
      <p:cxnSp>
        <p:nvCxnSpPr>
          <p:cNvPr id="13" name="Connector 13"/>
          <p:cNvCxnSpPr/>
          <p:nvPr/>
        </p:nvCxnSpPr>
        <p:spPr>
          <a:xfrm>
            <a:off x="7269480" y="2377440"/>
            <a:ext cx="0" cy="1783079"/>
          </a:xfrm>
          <a:prstGeom prst="line">
            <a:avLst/>
          </a:prstGeom>
          <a:ln w="25400">
            <a:solidFill>
              <a:srgbClr val="5B6770"/>
            </a:solidFill>
            <a:tailEnd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928" y="384048"/>
            <a:ext cx="109728" cy="608076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0">
                <a:solidFill>
                  <a:srgbClr val="263238"/>
                </a:solidFill>
              </a:rPr>
              <a:t/>
            </a:r>
            <a:endParaRPr lang="en-US" sz="2400"/>
          </a:p>
        </p:txBody>
      </p:sp>
      <p:sp>
        <p:nvSpPr>
          <p:cNvPr id="3" name="TextBox 3"/>
          <p:cNvSpPr txBox="1"/>
          <p:nvPr/>
        </p:nvSpPr>
        <p:spPr>
          <a:xfrm>
            <a:off x="82296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17324D"/>
                </a:solidFill>
              </a:rPr>
              <a:t>Frontend Build</a:t>
            </a:r>
            <a:endParaRPr lang="en-US" sz="3000"/>
          </a:p>
        </p:txBody>
      </p:sp>
      <p:sp>
        <p:nvSpPr>
          <p:cNvPr id="4" name="Bullets 4"/>
          <p:cNvSpPr txBox="1"/>
          <p:nvPr/>
        </p:nvSpPr>
        <p:spPr>
          <a:xfrm>
            <a:off x="914400" y="1417320"/>
            <a:ext cx="10332720" cy="4892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Built with Next.js 16, React 19, TypeScript, and Tailwind CSS.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Main workspace is the Converter component: SAS input, target language selection, generated code, execution controls, review panel, and recent conversions.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Supports SAS file upload, code download, full-screen code editing, execution input files, output/artifact display, and conversation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928" y="384048"/>
            <a:ext cx="109728" cy="608076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0">
                <a:solidFill>
                  <a:srgbClr val="263238"/>
                </a:solidFill>
              </a:rPr>
              <a:t/>
            </a:r>
            <a:endParaRPr lang="en-US" sz="2400"/>
          </a:p>
        </p:txBody>
      </p:sp>
      <p:sp>
        <p:nvSpPr>
          <p:cNvPr id="3" name="TextBox 3"/>
          <p:cNvSpPr txBox="1"/>
          <p:nvPr/>
        </p:nvSpPr>
        <p:spPr>
          <a:xfrm>
            <a:off x="82296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17324D"/>
                </a:solidFill>
              </a:rPr>
              <a:t>AI Conversion Layer</a:t>
            </a:r>
            <a:endParaRPr lang="en-US" sz="3000"/>
          </a:p>
        </p:txBody>
      </p:sp>
      <p:sp>
        <p:nvSpPr>
          <p:cNvPr id="4" name="Bullets 4"/>
          <p:cNvSpPr txBox="1"/>
          <p:nvPr/>
        </p:nvSpPr>
        <p:spPr>
          <a:xfrm>
            <a:off x="914400" y="1417320"/>
            <a:ext cx="10332720" cy="4892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The backend calls Azure OpenAI through the OpenAI SDK with Entra client-credential authentication.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Conversion prompts are language-specific for Python and R and include guardrails for statistical equivalence.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Specialized prompt blocks handle SAS file paths, SAS7BDAT reading, column normalization, survey design, SUDAAN, factor levels, predictive margins, and confidence intervals.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Generated Python and R code is validated before saving; transient failures can retry against a fallback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928" y="384048"/>
            <a:ext cx="109728" cy="608076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0">
                <a:solidFill>
                  <a:srgbClr val="263238"/>
                </a:solidFill>
              </a:rPr>
              <a:t/>
            </a:r>
            <a:endParaRPr lang="en-US" sz="2400"/>
          </a:p>
        </p:txBody>
      </p:sp>
      <p:sp>
        <p:nvSpPr>
          <p:cNvPr id="3" name="TextBox 3"/>
          <p:cNvSpPr txBox="1"/>
          <p:nvPr/>
        </p:nvSpPr>
        <p:spPr>
          <a:xfrm>
            <a:off x="82296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17324D"/>
                </a:solidFill>
              </a:rPr>
              <a:t>Data and User Management</a:t>
            </a:r>
            <a:endParaRPr lang="en-US" sz="3000"/>
          </a:p>
        </p:txBody>
      </p:sp>
      <p:sp>
        <p:nvSpPr>
          <p:cNvPr id="4" name="Bullets 4"/>
          <p:cNvSpPr txBox="1"/>
          <p:nvPr/>
        </p:nvSpPr>
        <p:spPr>
          <a:xfrm>
            <a:off x="914400" y="1417320"/>
            <a:ext cx="10332720" cy="4892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NextAuth/Firebase-backed auth protects all conversion, review, execution, project, and conversation APIs.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PostgreSQL/Prisma schema stores app users and project ownership.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Databricks SQL stores operational records such as code entries, reviews, code runs, enhancements, conversations, and messages.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The app reuses previous conversions when the same user, SAS source, target language, guidance, and reference URL match.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928" y="384048"/>
            <a:ext cx="109728" cy="608076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0">
                <a:solidFill>
                  <a:srgbClr val="263238"/>
                </a:solidFill>
              </a:rPr>
              <a:t/>
            </a:r>
            <a:endParaRPr lang="en-US" sz="2400"/>
          </a:p>
        </p:txBody>
      </p:sp>
      <p:sp>
        <p:nvSpPr>
          <p:cNvPr id="3" name="TextBox 3"/>
          <p:cNvSpPr txBox="1"/>
          <p:nvPr/>
        </p:nvSpPr>
        <p:spPr>
          <a:xfrm>
            <a:off x="82296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17324D"/>
                </a:solidFill>
              </a:rPr>
              <a:t>Code Execution Design</a:t>
            </a:r>
            <a:endParaRPr lang="en-US" sz="3000"/>
          </a:p>
        </p:txBody>
      </p:sp>
      <p:sp>
        <p:nvSpPr>
          <p:cNvPr id="4" name="Bullets 4"/>
          <p:cNvSpPr txBox="1"/>
          <p:nvPr/>
        </p:nvSpPr>
        <p:spPr>
          <a:xfrm>
            <a:off x="914400" y="1417320"/>
            <a:ext cx="10332720" cy="4892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Generated Python defaults to Databricks Jobs; R can run through Docker or Databricks depending on configuration.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Execution requests support uploaded input files and set SAS2PY_INPUT_DIR so translated code can locate data without hardcoded local paths.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The runner enforces package policy modes, output truncation, timeouts, and artifact limits.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Large code or input payloads can be offloaded through Azure Blob Storage, with SAS URLs or managed-identity-compatible direct blob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928" y="384048"/>
            <a:ext cx="109728" cy="608076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0">
                <a:solidFill>
                  <a:srgbClr val="263238"/>
                </a:solidFill>
              </a:rPr>
              <a:t/>
            </a:r>
            <a:endParaRPr lang="en-US" sz="2400"/>
          </a:p>
        </p:txBody>
      </p:sp>
      <p:sp>
        <p:nvSpPr>
          <p:cNvPr id="3" name="TextBox 3"/>
          <p:cNvSpPr txBox="1"/>
          <p:nvPr/>
        </p:nvSpPr>
        <p:spPr>
          <a:xfrm>
            <a:off x="82296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17324D"/>
                </a:solidFill>
              </a:rPr>
              <a:t>Key Engineering Decisions</a:t>
            </a:r>
            <a:endParaRPr lang="en-US" sz="3000"/>
          </a:p>
        </p:txBody>
      </p:sp>
      <p:sp>
        <p:nvSpPr>
          <p:cNvPr id="4" name="Bullets 4"/>
          <p:cNvSpPr txBox="1"/>
          <p:nvPr/>
        </p:nvSpPr>
        <p:spPr>
          <a:xfrm>
            <a:off x="914400" y="1417320"/>
            <a:ext cx="10332720" cy="4892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Keep AI interaction server-side so credentials, model configuration, and prompt logic are not exposed to the browser.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Treat translation as an auditable workflow rather than a one-off chat: save source, target code, reviews, refinements, runs, and discussions.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Use explicit statistical prompt guardrails because SAS/SUDAAN equivalence depends on design weights, domains, degrees of freedom, and interval methods.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Separate conversion, execution, storage, and discussion APIs so each part can be tested, secured, and extended independently.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928" y="384048"/>
            <a:ext cx="109728" cy="608076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b="0">
                <a:solidFill>
                  <a:srgbClr val="263238"/>
                </a:solidFill>
              </a:rPr>
              <a:t/>
            </a:r>
            <a:endParaRPr lang="en-US" sz="2400"/>
          </a:p>
        </p:txBody>
      </p:sp>
      <p:sp>
        <p:nvSpPr>
          <p:cNvPr id="3" name="TextBox 3"/>
          <p:cNvSpPr txBox="1"/>
          <p:nvPr/>
        </p:nvSpPr>
        <p:spPr>
          <a:xfrm>
            <a:off x="82296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17324D"/>
                </a:solidFill>
              </a:rPr>
              <a:t>How Others Can Rebuild or Extend It</a:t>
            </a:r>
            <a:endParaRPr lang="en-US" sz="3000"/>
          </a:p>
        </p:txBody>
      </p:sp>
      <p:sp>
        <p:nvSpPr>
          <p:cNvPr id="4" name="Bullets 4"/>
          <p:cNvSpPr txBox="1"/>
          <p:nvPr/>
        </p:nvSpPr>
        <p:spPr>
          <a:xfrm>
            <a:off x="914400" y="1417320"/>
            <a:ext cx="10332720" cy="4892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Start with the Next.js app shell and authentication flow, then add protected API routes for conversion and history.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Implement the Azure OpenAI conversion layer with strict prompts and validation before saving generated code.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Add persistence tables for entries, reviews, runs, enhancements, and conversations.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Integrate a controlled execution backend such as Databricks Jobs or Docker, then add file handoff and artifact capture.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263238"/>
                </a:solidFill>
              </a:rPr>
              <a:t>Iterate with real SAS examples, especially survey/SUDAAN cases, and encode recurring translation failures as prompt guardrails.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SAS2Py Studio Introduction</dc:title>
  <dc:creator>Codex</dc:creator>
  <cp:lastModifiedBy>Codex</cp:lastModifiedBy>
  <dcterms:created xsi:type="dcterms:W3CDTF">2026-07-01T19:14:32Z</dcterms:created>
  <dcterms:modified xsi:type="dcterms:W3CDTF">2026-07-01T19:14:32Z</dcterms:modified>
</cp:coreProperties>
</file>